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1016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" name="Rectangle 103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73321" y="640080"/>
            <a:ext cx="4688333" cy="3566160"/>
          </a:xfrm>
        </p:spPr>
        <p:txBody>
          <a:bodyPr anchor="b">
            <a:normAutofit/>
          </a:bodyPr>
          <a:lstStyle/>
          <a:p>
            <a:pPr algn="l"/>
            <a:r>
              <a:rPr lang="en-US" sz="4700"/>
              <a:t>OpenPharma Cybersecurity Remediation Plan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73320" y="4636008"/>
            <a:ext cx="4688333" cy="1572768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1800"/>
              <a:t>Securing Active Directory through Targeted Action</a:t>
            </a:r>
          </a:p>
          <a:p>
            <a:pPr algn="l">
              <a:lnSpc>
                <a:spcPct val="90000"/>
              </a:lnSpc>
            </a:pPr>
            <a:r>
              <a:rPr lang="en-US" sz="1800"/>
              <a:t>Presented by: Meera Pillai - Cybersecurity Analyst</a:t>
            </a:r>
          </a:p>
          <a:p>
            <a:pPr algn="l">
              <a:lnSpc>
                <a:spcPct val="90000"/>
              </a:lnSpc>
            </a:pPr>
            <a:r>
              <a:rPr lang="en-US" sz="1800"/>
              <a:t>Date: April 2025</a:t>
            </a:r>
          </a:p>
        </p:txBody>
      </p:sp>
      <p:pic>
        <p:nvPicPr>
          <p:cNvPr id="105" name="Picture 104">
            <a:extLst>
              <a:ext uri="{FF2B5EF4-FFF2-40B4-BE49-F238E27FC236}">
                <a16:creationId xmlns:a16="http://schemas.microsoft.com/office/drawing/2014/main" id="{6A5173BD-53C7-41D2-BCA0-89A223B62B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502" r="35848"/>
          <a:stretch/>
        </p:blipFill>
        <p:spPr>
          <a:xfrm>
            <a:off x="20" y="10"/>
            <a:ext cx="3492988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06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646" y="4409267"/>
            <a:ext cx="3182692" cy="18288"/>
          </a:xfrm>
          <a:custGeom>
            <a:avLst/>
            <a:gdLst>
              <a:gd name="connsiteX0" fmla="*/ 0 w 3182692"/>
              <a:gd name="connsiteY0" fmla="*/ 0 h 18288"/>
              <a:gd name="connsiteX1" fmla="*/ 604711 w 3182692"/>
              <a:gd name="connsiteY1" fmla="*/ 0 h 18288"/>
              <a:gd name="connsiteX2" fmla="*/ 1241250 w 3182692"/>
              <a:gd name="connsiteY2" fmla="*/ 0 h 18288"/>
              <a:gd name="connsiteX3" fmla="*/ 1909615 w 3182692"/>
              <a:gd name="connsiteY3" fmla="*/ 0 h 18288"/>
              <a:gd name="connsiteX4" fmla="*/ 2577981 w 3182692"/>
              <a:gd name="connsiteY4" fmla="*/ 0 h 18288"/>
              <a:gd name="connsiteX5" fmla="*/ 3182692 w 3182692"/>
              <a:gd name="connsiteY5" fmla="*/ 0 h 18288"/>
              <a:gd name="connsiteX6" fmla="*/ 3182692 w 3182692"/>
              <a:gd name="connsiteY6" fmla="*/ 18288 h 18288"/>
              <a:gd name="connsiteX7" fmla="*/ 2482500 w 3182692"/>
              <a:gd name="connsiteY7" fmla="*/ 18288 h 18288"/>
              <a:gd name="connsiteX8" fmla="*/ 1782308 w 3182692"/>
              <a:gd name="connsiteY8" fmla="*/ 18288 h 18288"/>
              <a:gd name="connsiteX9" fmla="*/ 1145769 w 3182692"/>
              <a:gd name="connsiteY9" fmla="*/ 18288 h 18288"/>
              <a:gd name="connsiteX10" fmla="*/ 0 w 3182692"/>
              <a:gd name="connsiteY10" fmla="*/ 18288 h 18288"/>
              <a:gd name="connsiteX11" fmla="*/ 0 w 3182692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126686" y="-21366"/>
                  <a:pt x="467788" y="9025"/>
                  <a:pt x="604711" y="0"/>
                </a:cubicBezTo>
                <a:cubicBezTo>
                  <a:pt x="741634" y="-9025"/>
                  <a:pt x="1061620" y="6814"/>
                  <a:pt x="1241250" y="0"/>
                </a:cubicBezTo>
                <a:cubicBezTo>
                  <a:pt x="1420880" y="-6814"/>
                  <a:pt x="1713773" y="13383"/>
                  <a:pt x="1909615" y="0"/>
                </a:cubicBezTo>
                <a:cubicBezTo>
                  <a:pt x="2105457" y="-13383"/>
                  <a:pt x="2257256" y="13567"/>
                  <a:pt x="2577981" y="0"/>
                </a:cubicBezTo>
                <a:cubicBezTo>
                  <a:pt x="2898706" y="-13567"/>
                  <a:pt x="3026063" y="6328"/>
                  <a:pt x="3182692" y="0"/>
                </a:cubicBezTo>
                <a:cubicBezTo>
                  <a:pt x="3181983" y="8157"/>
                  <a:pt x="3182279" y="12125"/>
                  <a:pt x="3182692" y="18288"/>
                </a:cubicBezTo>
                <a:cubicBezTo>
                  <a:pt x="2998421" y="21742"/>
                  <a:pt x="2675038" y="19014"/>
                  <a:pt x="2482500" y="18288"/>
                </a:cubicBezTo>
                <a:cubicBezTo>
                  <a:pt x="2289962" y="17562"/>
                  <a:pt x="1930644" y="6834"/>
                  <a:pt x="1782308" y="18288"/>
                </a:cubicBezTo>
                <a:cubicBezTo>
                  <a:pt x="1633972" y="29742"/>
                  <a:pt x="1287388" y="-1992"/>
                  <a:pt x="1145769" y="18288"/>
                </a:cubicBezTo>
                <a:cubicBezTo>
                  <a:pt x="1004150" y="38568"/>
                  <a:pt x="256377" y="-37438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83446" y="18201"/>
                  <a:pt x="432812" y="7290"/>
                  <a:pt x="604711" y="0"/>
                </a:cubicBezTo>
                <a:cubicBezTo>
                  <a:pt x="776610" y="-7290"/>
                  <a:pt x="982253" y="15478"/>
                  <a:pt x="1145769" y="0"/>
                </a:cubicBezTo>
                <a:cubicBezTo>
                  <a:pt x="1309285" y="-15478"/>
                  <a:pt x="1514247" y="-25520"/>
                  <a:pt x="1845961" y="0"/>
                </a:cubicBezTo>
                <a:cubicBezTo>
                  <a:pt x="2177675" y="25520"/>
                  <a:pt x="2297588" y="16646"/>
                  <a:pt x="2450673" y="0"/>
                </a:cubicBezTo>
                <a:cubicBezTo>
                  <a:pt x="2603758" y="-16646"/>
                  <a:pt x="3023048" y="-21196"/>
                  <a:pt x="3182692" y="0"/>
                </a:cubicBezTo>
                <a:cubicBezTo>
                  <a:pt x="3182428" y="4493"/>
                  <a:pt x="3183076" y="9472"/>
                  <a:pt x="3182692" y="18288"/>
                </a:cubicBezTo>
                <a:cubicBezTo>
                  <a:pt x="3039109" y="-12701"/>
                  <a:pt x="2823860" y="13848"/>
                  <a:pt x="2546154" y="18288"/>
                </a:cubicBezTo>
                <a:cubicBezTo>
                  <a:pt x="2268448" y="22728"/>
                  <a:pt x="2098674" y="5291"/>
                  <a:pt x="1845961" y="18288"/>
                </a:cubicBezTo>
                <a:cubicBezTo>
                  <a:pt x="1593248" y="31285"/>
                  <a:pt x="1456743" y="27560"/>
                  <a:pt x="1304904" y="18288"/>
                </a:cubicBezTo>
                <a:cubicBezTo>
                  <a:pt x="1153065" y="9016"/>
                  <a:pt x="947204" y="11126"/>
                  <a:pt x="668365" y="18288"/>
                </a:cubicBezTo>
                <a:cubicBezTo>
                  <a:pt x="389526" y="25450"/>
                  <a:pt x="288244" y="-4628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sz="4700"/>
              <a:t>Summary of Audit Findings</a:t>
            </a:r>
          </a:p>
        </p:txBody>
      </p:sp>
      <p:sp>
        <p:nvSpPr>
          <p:cNvPr id="43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onnsiteX0" fmla="*/ 0 w 8140446"/>
              <a:gd name="connsiteY0" fmla="*/ 0 h 18288"/>
              <a:gd name="connsiteX1" fmla="*/ 434157 w 8140446"/>
              <a:gd name="connsiteY1" fmla="*/ 0 h 18288"/>
              <a:gd name="connsiteX2" fmla="*/ 1193932 w 8140446"/>
              <a:gd name="connsiteY2" fmla="*/ 0 h 18288"/>
              <a:gd name="connsiteX3" fmla="*/ 1628089 w 8140446"/>
              <a:gd name="connsiteY3" fmla="*/ 0 h 18288"/>
              <a:gd name="connsiteX4" fmla="*/ 2225055 w 8140446"/>
              <a:gd name="connsiteY4" fmla="*/ 0 h 18288"/>
              <a:gd name="connsiteX5" fmla="*/ 3066235 w 8140446"/>
              <a:gd name="connsiteY5" fmla="*/ 0 h 18288"/>
              <a:gd name="connsiteX6" fmla="*/ 3744605 w 8140446"/>
              <a:gd name="connsiteY6" fmla="*/ 0 h 18288"/>
              <a:gd name="connsiteX7" fmla="*/ 4504380 w 8140446"/>
              <a:gd name="connsiteY7" fmla="*/ 0 h 18288"/>
              <a:gd name="connsiteX8" fmla="*/ 5101346 w 8140446"/>
              <a:gd name="connsiteY8" fmla="*/ 0 h 18288"/>
              <a:gd name="connsiteX9" fmla="*/ 5779717 w 8140446"/>
              <a:gd name="connsiteY9" fmla="*/ 0 h 18288"/>
              <a:gd name="connsiteX10" fmla="*/ 6620896 w 8140446"/>
              <a:gd name="connsiteY10" fmla="*/ 0 h 18288"/>
              <a:gd name="connsiteX11" fmla="*/ 7136458 w 8140446"/>
              <a:gd name="connsiteY11" fmla="*/ 0 h 18288"/>
              <a:gd name="connsiteX12" fmla="*/ 8140446 w 8140446"/>
              <a:gd name="connsiteY12" fmla="*/ 0 h 18288"/>
              <a:gd name="connsiteX13" fmla="*/ 8140446 w 8140446"/>
              <a:gd name="connsiteY13" fmla="*/ 18288 h 18288"/>
              <a:gd name="connsiteX14" fmla="*/ 7543480 w 8140446"/>
              <a:gd name="connsiteY14" fmla="*/ 18288 h 18288"/>
              <a:gd name="connsiteX15" fmla="*/ 7109323 w 8140446"/>
              <a:gd name="connsiteY15" fmla="*/ 18288 h 18288"/>
              <a:gd name="connsiteX16" fmla="*/ 6430952 w 8140446"/>
              <a:gd name="connsiteY16" fmla="*/ 18288 h 18288"/>
              <a:gd name="connsiteX17" fmla="*/ 5915391 w 8140446"/>
              <a:gd name="connsiteY17" fmla="*/ 18288 h 18288"/>
              <a:gd name="connsiteX18" fmla="*/ 5237020 w 8140446"/>
              <a:gd name="connsiteY18" fmla="*/ 18288 h 18288"/>
              <a:gd name="connsiteX19" fmla="*/ 4558650 w 8140446"/>
              <a:gd name="connsiteY19" fmla="*/ 18288 h 18288"/>
              <a:gd name="connsiteX20" fmla="*/ 3880279 w 8140446"/>
              <a:gd name="connsiteY20" fmla="*/ 18288 h 18288"/>
              <a:gd name="connsiteX21" fmla="*/ 3201909 w 8140446"/>
              <a:gd name="connsiteY21" fmla="*/ 18288 h 18288"/>
              <a:gd name="connsiteX22" fmla="*/ 2604943 w 8140446"/>
              <a:gd name="connsiteY22" fmla="*/ 18288 h 18288"/>
              <a:gd name="connsiteX23" fmla="*/ 1845168 w 8140446"/>
              <a:gd name="connsiteY23" fmla="*/ 18288 h 18288"/>
              <a:gd name="connsiteX24" fmla="*/ 1166797 w 8140446"/>
              <a:gd name="connsiteY24" fmla="*/ 18288 h 18288"/>
              <a:gd name="connsiteX25" fmla="*/ 0 w 8140446"/>
              <a:gd name="connsiteY25" fmla="*/ 18288 h 18288"/>
              <a:gd name="connsiteX26" fmla="*/ 0 w 8140446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endParaRPr lang="en-US" sz="1900" dirty="0"/>
          </a:p>
          <a:p>
            <a:r>
              <a:rPr lang="en-US" sz="1900" b="1" dirty="0"/>
              <a:t>Audit Scope</a:t>
            </a:r>
            <a:r>
              <a:rPr lang="en-US" sz="1900" dirty="0"/>
              <a:t>: Internal assessment of Active Directory environment.</a:t>
            </a:r>
          </a:p>
          <a:p>
            <a:endParaRPr lang="en-US" sz="1900" dirty="0"/>
          </a:p>
          <a:p>
            <a:r>
              <a:rPr lang="en-US" sz="1900" b="1" dirty="0"/>
              <a:t>Vulnerabilities Identified</a:t>
            </a:r>
            <a:r>
              <a:rPr lang="en-US" sz="1900" dirty="0"/>
              <a:t>: Total 14 total vulnerabilities were found.</a:t>
            </a:r>
          </a:p>
          <a:p>
            <a:endParaRPr lang="en-US" sz="1900" dirty="0"/>
          </a:p>
          <a:p>
            <a:r>
              <a:rPr lang="en-US" sz="1900" b="1" dirty="0"/>
              <a:t>Risks Found</a:t>
            </a:r>
            <a:r>
              <a:rPr lang="en-US" sz="1900" dirty="0"/>
              <a:t>:</a:t>
            </a:r>
          </a:p>
          <a:p>
            <a:pPr marL="0" indent="0">
              <a:buNone/>
            </a:pPr>
            <a:r>
              <a:rPr lang="en-US" sz="1900" dirty="0"/>
              <a:t>	- Exposed admin credentials.</a:t>
            </a:r>
          </a:p>
          <a:p>
            <a:pPr marL="0" indent="0">
              <a:buNone/>
            </a:pPr>
            <a:r>
              <a:rPr lang="en-US" sz="1900" dirty="0"/>
              <a:t>	- Outdated systems.</a:t>
            </a:r>
          </a:p>
          <a:p>
            <a:pPr marL="0" indent="0">
              <a:buNone/>
            </a:pPr>
            <a:r>
              <a:rPr lang="en-US" sz="1900" dirty="0"/>
              <a:t>	- Weak network segmentation.</a:t>
            </a:r>
          </a:p>
          <a:p>
            <a:pPr marL="0" indent="0">
              <a:buNone/>
            </a:pPr>
            <a:r>
              <a:rPr lang="en-US" sz="1900" dirty="0"/>
              <a:t>	- Poor protocol hygiene (e.g., SMBv1, LLMNR).</a:t>
            </a:r>
          </a:p>
          <a:p>
            <a:pPr marL="0" indent="0">
              <a:buNone/>
            </a:pPr>
            <a:endParaRPr lang="en-US" sz="1900" dirty="0"/>
          </a:p>
          <a:p>
            <a:r>
              <a:rPr lang="en-US" sz="1900" b="1" dirty="0"/>
              <a:t>Impact</a:t>
            </a:r>
            <a:r>
              <a:rPr lang="en-US" sz="1900" dirty="0"/>
              <a:t>: Threats to IP, compliance, and operational continuity.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sz="4700"/>
              <a:t>Top 8 Prioritized Vulnerabilities</a:t>
            </a:r>
          </a:p>
        </p:txBody>
      </p:sp>
      <p:sp>
        <p:nvSpPr>
          <p:cNvPr id="36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onnsiteX0" fmla="*/ 0 w 8140446"/>
              <a:gd name="connsiteY0" fmla="*/ 0 h 18288"/>
              <a:gd name="connsiteX1" fmla="*/ 434157 w 8140446"/>
              <a:gd name="connsiteY1" fmla="*/ 0 h 18288"/>
              <a:gd name="connsiteX2" fmla="*/ 1193932 w 8140446"/>
              <a:gd name="connsiteY2" fmla="*/ 0 h 18288"/>
              <a:gd name="connsiteX3" fmla="*/ 1628089 w 8140446"/>
              <a:gd name="connsiteY3" fmla="*/ 0 h 18288"/>
              <a:gd name="connsiteX4" fmla="*/ 2225055 w 8140446"/>
              <a:gd name="connsiteY4" fmla="*/ 0 h 18288"/>
              <a:gd name="connsiteX5" fmla="*/ 3066235 w 8140446"/>
              <a:gd name="connsiteY5" fmla="*/ 0 h 18288"/>
              <a:gd name="connsiteX6" fmla="*/ 3744605 w 8140446"/>
              <a:gd name="connsiteY6" fmla="*/ 0 h 18288"/>
              <a:gd name="connsiteX7" fmla="*/ 4504380 w 8140446"/>
              <a:gd name="connsiteY7" fmla="*/ 0 h 18288"/>
              <a:gd name="connsiteX8" fmla="*/ 5101346 w 8140446"/>
              <a:gd name="connsiteY8" fmla="*/ 0 h 18288"/>
              <a:gd name="connsiteX9" fmla="*/ 5779717 w 8140446"/>
              <a:gd name="connsiteY9" fmla="*/ 0 h 18288"/>
              <a:gd name="connsiteX10" fmla="*/ 6620896 w 8140446"/>
              <a:gd name="connsiteY10" fmla="*/ 0 h 18288"/>
              <a:gd name="connsiteX11" fmla="*/ 7136458 w 8140446"/>
              <a:gd name="connsiteY11" fmla="*/ 0 h 18288"/>
              <a:gd name="connsiteX12" fmla="*/ 8140446 w 8140446"/>
              <a:gd name="connsiteY12" fmla="*/ 0 h 18288"/>
              <a:gd name="connsiteX13" fmla="*/ 8140446 w 8140446"/>
              <a:gd name="connsiteY13" fmla="*/ 18288 h 18288"/>
              <a:gd name="connsiteX14" fmla="*/ 7543480 w 8140446"/>
              <a:gd name="connsiteY14" fmla="*/ 18288 h 18288"/>
              <a:gd name="connsiteX15" fmla="*/ 7109323 w 8140446"/>
              <a:gd name="connsiteY15" fmla="*/ 18288 h 18288"/>
              <a:gd name="connsiteX16" fmla="*/ 6430952 w 8140446"/>
              <a:gd name="connsiteY16" fmla="*/ 18288 h 18288"/>
              <a:gd name="connsiteX17" fmla="*/ 5915391 w 8140446"/>
              <a:gd name="connsiteY17" fmla="*/ 18288 h 18288"/>
              <a:gd name="connsiteX18" fmla="*/ 5237020 w 8140446"/>
              <a:gd name="connsiteY18" fmla="*/ 18288 h 18288"/>
              <a:gd name="connsiteX19" fmla="*/ 4558650 w 8140446"/>
              <a:gd name="connsiteY19" fmla="*/ 18288 h 18288"/>
              <a:gd name="connsiteX20" fmla="*/ 3880279 w 8140446"/>
              <a:gd name="connsiteY20" fmla="*/ 18288 h 18288"/>
              <a:gd name="connsiteX21" fmla="*/ 3201909 w 8140446"/>
              <a:gd name="connsiteY21" fmla="*/ 18288 h 18288"/>
              <a:gd name="connsiteX22" fmla="*/ 2604943 w 8140446"/>
              <a:gd name="connsiteY22" fmla="*/ 18288 h 18288"/>
              <a:gd name="connsiteX23" fmla="*/ 1845168 w 8140446"/>
              <a:gd name="connsiteY23" fmla="*/ 18288 h 18288"/>
              <a:gd name="connsiteX24" fmla="*/ 1166797 w 8140446"/>
              <a:gd name="connsiteY24" fmla="*/ 18288 h 18288"/>
              <a:gd name="connsiteX25" fmla="*/ 0 w 8140446"/>
              <a:gd name="connsiteY25" fmla="*/ 18288 h 18288"/>
              <a:gd name="connsiteX26" fmla="*/ 0 w 8140446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r>
              <a:rPr lang="en-US" sz="1900" dirty="0"/>
              <a:t>1	Outdated Operating Systems.</a:t>
            </a:r>
          </a:p>
          <a:p>
            <a:pPr marL="0" indent="0">
              <a:buNone/>
            </a:pPr>
            <a:r>
              <a:rPr lang="en-US" sz="1900" dirty="0"/>
              <a:t>2	GPP Passwords in Plaintext.</a:t>
            </a:r>
          </a:p>
          <a:p>
            <a:pPr marL="0" indent="0">
              <a:buNone/>
            </a:pPr>
            <a:r>
              <a:rPr lang="en-US" sz="1900" dirty="0"/>
              <a:t>3	IPv6 Network Poisoning.</a:t>
            </a:r>
          </a:p>
          <a:p>
            <a:pPr marL="0" indent="0">
              <a:buNone/>
            </a:pPr>
            <a:r>
              <a:rPr lang="en-US" sz="1900" dirty="0"/>
              <a:t>4	LLMNR &amp; NBT-NS Poisoning.</a:t>
            </a:r>
          </a:p>
          <a:p>
            <a:pPr marL="0" indent="0">
              <a:buNone/>
            </a:pPr>
            <a:r>
              <a:rPr lang="en-US" sz="1900" dirty="0"/>
              <a:t>5	</a:t>
            </a:r>
            <a:r>
              <a:rPr lang="en-US" sz="1900"/>
              <a:t>Kerberoastable</a:t>
            </a:r>
            <a:r>
              <a:rPr lang="en-US" sz="1900" dirty="0"/>
              <a:t> Users.</a:t>
            </a:r>
          </a:p>
          <a:p>
            <a:pPr marL="0" indent="0">
              <a:buNone/>
            </a:pPr>
            <a:r>
              <a:rPr lang="en-US" sz="1900" dirty="0"/>
              <a:t>6	ASREP-Roastable Users.</a:t>
            </a:r>
          </a:p>
          <a:p>
            <a:pPr marL="0" indent="0">
              <a:buNone/>
            </a:pPr>
            <a:r>
              <a:rPr lang="en-US" sz="1900" dirty="0"/>
              <a:t>7	SMBv1 Usage.</a:t>
            </a:r>
          </a:p>
          <a:p>
            <a:pPr marL="0" indent="0">
              <a:buNone/>
            </a:pPr>
            <a:r>
              <a:rPr lang="en-US" sz="1900" dirty="0"/>
              <a:t>8	Sensitive Data in Network Shares.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300" dirty="0"/>
              <a:t>Business Impact – Outdated Operating Systems</a:t>
            </a:r>
          </a:p>
        </p:txBody>
      </p:sp>
      <p:sp>
        <p:nvSpPr>
          <p:cNvPr id="36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onnsiteX0" fmla="*/ 0 w 8140446"/>
              <a:gd name="connsiteY0" fmla="*/ 0 h 18288"/>
              <a:gd name="connsiteX1" fmla="*/ 434157 w 8140446"/>
              <a:gd name="connsiteY1" fmla="*/ 0 h 18288"/>
              <a:gd name="connsiteX2" fmla="*/ 1193932 w 8140446"/>
              <a:gd name="connsiteY2" fmla="*/ 0 h 18288"/>
              <a:gd name="connsiteX3" fmla="*/ 1628089 w 8140446"/>
              <a:gd name="connsiteY3" fmla="*/ 0 h 18288"/>
              <a:gd name="connsiteX4" fmla="*/ 2225055 w 8140446"/>
              <a:gd name="connsiteY4" fmla="*/ 0 h 18288"/>
              <a:gd name="connsiteX5" fmla="*/ 3066235 w 8140446"/>
              <a:gd name="connsiteY5" fmla="*/ 0 h 18288"/>
              <a:gd name="connsiteX6" fmla="*/ 3744605 w 8140446"/>
              <a:gd name="connsiteY6" fmla="*/ 0 h 18288"/>
              <a:gd name="connsiteX7" fmla="*/ 4504380 w 8140446"/>
              <a:gd name="connsiteY7" fmla="*/ 0 h 18288"/>
              <a:gd name="connsiteX8" fmla="*/ 5101346 w 8140446"/>
              <a:gd name="connsiteY8" fmla="*/ 0 h 18288"/>
              <a:gd name="connsiteX9" fmla="*/ 5779717 w 8140446"/>
              <a:gd name="connsiteY9" fmla="*/ 0 h 18288"/>
              <a:gd name="connsiteX10" fmla="*/ 6620896 w 8140446"/>
              <a:gd name="connsiteY10" fmla="*/ 0 h 18288"/>
              <a:gd name="connsiteX11" fmla="*/ 7136458 w 8140446"/>
              <a:gd name="connsiteY11" fmla="*/ 0 h 18288"/>
              <a:gd name="connsiteX12" fmla="*/ 8140446 w 8140446"/>
              <a:gd name="connsiteY12" fmla="*/ 0 h 18288"/>
              <a:gd name="connsiteX13" fmla="*/ 8140446 w 8140446"/>
              <a:gd name="connsiteY13" fmla="*/ 18288 h 18288"/>
              <a:gd name="connsiteX14" fmla="*/ 7543480 w 8140446"/>
              <a:gd name="connsiteY14" fmla="*/ 18288 h 18288"/>
              <a:gd name="connsiteX15" fmla="*/ 7109323 w 8140446"/>
              <a:gd name="connsiteY15" fmla="*/ 18288 h 18288"/>
              <a:gd name="connsiteX16" fmla="*/ 6430952 w 8140446"/>
              <a:gd name="connsiteY16" fmla="*/ 18288 h 18288"/>
              <a:gd name="connsiteX17" fmla="*/ 5915391 w 8140446"/>
              <a:gd name="connsiteY17" fmla="*/ 18288 h 18288"/>
              <a:gd name="connsiteX18" fmla="*/ 5237020 w 8140446"/>
              <a:gd name="connsiteY18" fmla="*/ 18288 h 18288"/>
              <a:gd name="connsiteX19" fmla="*/ 4558650 w 8140446"/>
              <a:gd name="connsiteY19" fmla="*/ 18288 h 18288"/>
              <a:gd name="connsiteX20" fmla="*/ 3880279 w 8140446"/>
              <a:gd name="connsiteY20" fmla="*/ 18288 h 18288"/>
              <a:gd name="connsiteX21" fmla="*/ 3201909 w 8140446"/>
              <a:gd name="connsiteY21" fmla="*/ 18288 h 18288"/>
              <a:gd name="connsiteX22" fmla="*/ 2604943 w 8140446"/>
              <a:gd name="connsiteY22" fmla="*/ 18288 h 18288"/>
              <a:gd name="connsiteX23" fmla="*/ 1845168 w 8140446"/>
              <a:gd name="connsiteY23" fmla="*/ 18288 h 18288"/>
              <a:gd name="connsiteX24" fmla="*/ 1166797 w 8140446"/>
              <a:gd name="connsiteY24" fmla="*/ 18288 h 18288"/>
              <a:gd name="connsiteX25" fmla="*/ 0 w 8140446"/>
              <a:gd name="connsiteY25" fmla="*/ 18288 h 18288"/>
              <a:gd name="connsiteX26" fmla="*/ 0 w 8140446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endParaRPr lang="en-US" sz="16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600" dirty="0"/>
              <a:t>🛠 Why this matters at </a:t>
            </a:r>
            <a:r>
              <a:rPr lang="en-US" sz="1600" dirty="0" err="1"/>
              <a:t>OpenPharma</a:t>
            </a:r>
            <a:r>
              <a:rPr lang="en-US" sz="1600" dirty="0"/>
              <a:t>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600" dirty="0"/>
              <a:t>	- 5 servers in use run unsupported Windows Server versions.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600" dirty="0"/>
              <a:t>	- Hosts include production &amp; reporting databases critical to research.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600" dirty="0"/>
              <a:t>	- Puts regulatory compliance (HIPAA, 21 CFR Part 11) at risk.</a:t>
            </a:r>
          </a:p>
          <a:p>
            <a:pPr marL="0" indent="0">
              <a:lnSpc>
                <a:spcPct val="90000"/>
              </a:lnSpc>
              <a:buNone/>
            </a:pPr>
            <a:endParaRPr lang="en-US" sz="16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600" dirty="0"/>
              <a:t>📉 Potential impact if exploited: 	- Disruption of R&amp;D operations.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600" dirty="0"/>
              <a:t>	- Fines, IP loss, and reputational damage</a:t>
            </a:r>
            <a:r>
              <a:rPr lang="en-US" sz="1600" b="1" dirty="0">
                <a:solidFill>
                  <a:srgbClr val="FF0000"/>
                </a:solidFill>
              </a:rPr>
              <a:t>. (Include cost, PHI info </a:t>
            </a:r>
            <a:r>
              <a:rPr lang="en-US" sz="1600" b="1">
                <a:solidFill>
                  <a:srgbClr val="FF0000"/>
                </a:solidFill>
              </a:rPr>
              <a:t>and reputation)</a:t>
            </a:r>
            <a:endParaRPr lang="en-US" sz="1600" b="1" dirty="0">
              <a:solidFill>
                <a:srgbClr val="FF0000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16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600" dirty="0"/>
              <a:t>📈 Remediation (Priority #1):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600" dirty="0"/>
              <a:t>	- Upgrade to Windows Server 2019+.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600" dirty="0"/>
              <a:t>	- Isolate unpatched systems temporarily.((Segregation)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600" dirty="0"/>
              <a:t>(</a:t>
            </a:r>
            <a:r>
              <a:rPr lang="en-US" sz="1600" b="1" dirty="0">
                <a:solidFill>
                  <a:srgbClr val="FF0000"/>
                </a:solidFill>
              </a:rPr>
              <a:t>Segregation</a:t>
            </a:r>
            <a:r>
              <a:rPr lang="en-US" sz="1600" dirty="0"/>
              <a:t>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600" dirty="0"/>
              <a:t>	- Patch and harden all supported systems.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39B839-E799-7625-17F4-F63F8F8CC7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0857" y="4496546"/>
            <a:ext cx="3651187" cy="136816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300" dirty="0"/>
              <a:t>Strategic Action – GPP Password Removal</a:t>
            </a:r>
          </a:p>
        </p:txBody>
      </p:sp>
      <p:sp>
        <p:nvSpPr>
          <p:cNvPr id="36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onnsiteX0" fmla="*/ 0 w 8140446"/>
              <a:gd name="connsiteY0" fmla="*/ 0 h 18288"/>
              <a:gd name="connsiteX1" fmla="*/ 434157 w 8140446"/>
              <a:gd name="connsiteY1" fmla="*/ 0 h 18288"/>
              <a:gd name="connsiteX2" fmla="*/ 1193932 w 8140446"/>
              <a:gd name="connsiteY2" fmla="*/ 0 h 18288"/>
              <a:gd name="connsiteX3" fmla="*/ 1628089 w 8140446"/>
              <a:gd name="connsiteY3" fmla="*/ 0 h 18288"/>
              <a:gd name="connsiteX4" fmla="*/ 2225055 w 8140446"/>
              <a:gd name="connsiteY4" fmla="*/ 0 h 18288"/>
              <a:gd name="connsiteX5" fmla="*/ 3066235 w 8140446"/>
              <a:gd name="connsiteY5" fmla="*/ 0 h 18288"/>
              <a:gd name="connsiteX6" fmla="*/ 3744605 w 8140446"/>
              <a:gd name="connsiteY6" fmla="*/ 0 h 18288"/>
              <a:gd name="connsiteX7" fmla="*/ 4504380 w 8140446"/>
              <a:gd name="connsiteY7" fmla="*/ 0 h 18288"/>
              <a:gd name="connsiteX8" fmla="*/ 5101346 w 8140446"/>
              <a:gd name="connsiteY8" fmla="*/ 0 h 18288"/>
              <a:gd name="connsiteX9" fmla="*/ 5779717 w 8140446"/>
              <a:gd name="connsiteY9" fmla="*/ 0 h 18288"/>
              <a:gd name="connsiteX10" fmla="*/ 6620896 w 8140446"/>
              <a:gd name="connsiteY10" fmla="*/ 0 h 18288"/>
              <a:gd name="connsiteX11" fmla="*/ 7136458 w 8140446"/>
              <a:gd name="connsiteY11" fmla="*/ 0 h 18288"/>
              <a:gd name="connsiteX12" fmla="*/ 8140446 w 8140446"/>
              <a:gd name="connsiteY12" fmla="*/ 0 h 18288"/>
              <a:gd name="connsiteX13" fmla="*/ 8140446 w 8140446"/>
              <a:gd name="connsiteY13" fmla="*/ 18288 h 18288"/>
              <a:gd name="connsiteX14" fmla="*/ 7543480 w 8140446"/>
              <a:gd name="connsiteY14" fmla="*/ 18288 h 18288"/>
              <a:gd name="connsiteX15" fmla="*/ 7109323 w 8140446"/>
              <a:gd name="connsiteY15" fmla="*/ 18288 h 18288"/>
              <a:gd name="connsiteX16" fmla="*/ 6430952 w 8140446"/>
              <a:gd name="connsiteY16" fmla="*/ 18288 h 18288"/>
              <a:gd name="connsiteX17" fmla="*/ 5915391 w 8140446"/>
              <a:gd name="connsiteY17" fmla="*/ 18288 h 18288"/>
              <a:gd name="connsiteX18" fmla="*/ 5237020 w 8140446"/>
              <a:gd name="connsiteY18" fmla="*/ 18288 h 18288"/>
              <a:gd name="connsiteX19" fmla="*/ 4558650 w 8140446"/>
              <a:gd name="connsiteY19" fmla="*/ 18288 h 18288"/>
              <a:gd name="connsiteX20" fmla="*/ 3880279 w 8140446"/>
              <a:gd name="connsiteY20" fmla="*/ 18288 h 18288"/>
              <a:gd name="connsiteX21" fmla="*/ 3201909 w 8140446"/>
              <a:gd name="connsiteY21" fmla="*/ 18288 h 18288"/>
              <a:gd name="connsiteX22" fmla="*/ 2604943 w 8140446"/>
              <a:gd name="connsiteY22" fmla="*/ 18288 h 18288"/>
              <a:gd name="connsiteX23" fmla="*/ 1845168 w 8140446"/>
              <a:gd name="connsiteY23" fmla="*/ 18288 h 18288"/>
              <a:gd name="connsiteX24" fmla="*/ 1166797 w 8140446"/>
              <a:gd name="connsiteY24" fmla="*/ 18288 h 18288"/>
              <a:gd name="connsiteX25" fmla="*/ 0 w 8140446"/>
              <a:gd name="connsiteY25" fmla="*/ 18288 h 18288"/>
              <a:gd name="connsiteX26" fmla="*/ 0 w 8140446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r>
              <a:rPr lang="en-US" sz="1900" dirty="0"/>
              <a:t>🧠 What we found:</a:t>
            </a:r>
          </a:p>
          <a:p>
            <a:pPr marL="0" indent="0">
              <a:buNone/>
            </a:pPr>
            <a:r>
              <a:rPr lang="en-US" sz="1900" dirty="0"/>
              <a:t>	- Admin credentials stored in GPOs(</a:t>
            </a:r>
            <a:r>
              <a:rPr lang="en-US" sz="1900" dirty="0">
                <a:effectLst/>
                <a:latin typeface="Calibri" panose="020F0502020204030204" pitchFamily="34" charset="0"/>
                <a:ea typeface="Arial" panose="020B0604020202020204" pitchFamily="34" charset="0"/>
              </a:rPr>
              <a:t>Group Policy Objects )</a:t>
            </a:r>
            <a:r>
              <a:rPr lang="en-US" sz="1900" dirty="0"/>
              <a:t> via Group 	Policy Preferences can be easily decrypted due to known AES key (CVE-	2014-1812).</a:t>
            </a:r>
          </a:p>
          <a:p>
            <a:pPr marL="0" indent="0">
              <a:buNone/>
            </a:pPr>
            <a:r>
              <a:rPr lang="en-US" sz="1900" dirty="0"/>
              <a:t>🔐 Proposed Action (Priority #2):</a:t>
            </a:r>
          </a:p>
          <a:p>
            <a:pPr marL="0" indent="0">
              <a:buNone/>
            </a:pPr>
            <a:r>
              <a:rPr lang="en-US" sz="1900" dirty="0"/>
              <a:t>	- Remove plaintext credentials.</a:t>
            </a:r>
          </a:p>
          <a:p>
            <a:pPr marL="0" indent="0">
              <a:buNone/>
            </a:pPr>
            <a:r>
              <a:rPr lang="en-US" sz="1900" dirty="0"/>
              <a:t>	- Use </a:t>
            </a:r>
            <a:r>
              <a:rPr lang="en-US" sz="1900" dirty="0" err="1"/>
              <a:t>gMSAs</a:t>
            </a:r>
            <a:r>
              <a:rPr lang="en-US" sz="1900" dirty="0"/>
              <a:t> and LAPS for secure admin management.</a:t>
            </a:r>
          </a:p>
          <a:p>
            <a:pPr marL="0" indent="0">
              <a:buNone/>
            </a:pPr>
            <a:r>
              <a:rPr lang="en-US" sz="1900" dirty="0"/>
              <a:t>📌 Aligns with CIS Controls:</a:t>
            </a:r>
          </a:p>
          <a:p>
            <a:pPr marL="0" indent="0">
              <a:buNone/>
            </a:pPr>
            <a:r>
              <a:rPr lang="en-US" sz="1900" dirty="0"/>
              <a:t>	- Control 4.5: Securely manage administrator privileges.</a:t>
            </a:r>
          </a:p>
          <a:p>
            <a:pPr marL="0" indent="0">
              <a:buNone/>
            </a:pPr>
            <a:r>
              <a:rPr lang="en-US" sz="1900" dirty="0"/>
              <a:t>	- Control 4.8: Use unique and strong passwords.</a:t>
            </a:r>
          </a:p>
          <a:p>
            <a:pPr marL="0" indent="0">
              <a:buNone/>
            </a:pPr>
            <a:r>
              <a:rPr lang="en-US" sz="1900" dirty="0"/>
              <a:t>	- Control 6.3: Protect credentials from unauthorized access.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sz="4700"/>
              <a:t>Strategic Benefits &amp; Next Steps</a:t>
            </a:r>
          </a:p>
        </p:txBody>
      </p:sp>
      <p:sp>
        <p:nvSpPr>
          <p:cNvPr id="36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onnsiteX0" fmla="*/ 0 w 8140446"/>
              <a:gd name="connsiteY0" fmla="*/ 0 h 18288"/>
              <a:gd name="connsiteX1" fmla="*/ 434157 w 8140446"/>
              <a:gd name="connsiteY1" fmla="*/ 0 h 18288"/>
              <a:gd name="connsiteX2" fmla="*/ 1193932 w 8140446"/>
              <a:gd name="connsiteY2" fmla="*/ 0 h 18288"/>
              <a:gd name="connsiteX3" fmla="*/ 1628089 w 8140446"/>
              <a:gd name="connsiteY3" fmla="*/ 0 h 18288"/>
              <a:gd name="connsiteX4" fmla="*/ 2225055 w 8140446"/>
              <a:gd name="connsiteY4" fmla="*/ 0 h 18288"/>
              <a:gd name="connsiteX5" fmla="*/ 3066235 w 8140446"/>
              <a:gd name="connsiteY5" fmla="*/ 0 h 18288"/>
              <a:gd name="connsiteX6" fmla="*/ 3744605 w 8140446"/>
              <a:gd name="connsiteY6" fmla="*/ 0 h 18288"/>
              <a:gd name="connsiteX7" fmla="*/ 4504380 w 8140446"/>
              <a:gd name="connsiteY7" fmla="*/ 0 h 18288"/>
              <a:gd name="connsiteX8" fmla="*/ 5101346 w 8140446"/>
              <a:gd name="connsiteY8" fmla="*/ 0 h 18288"/>
              <a:gd name="connsiteX9" fmla="*/ 5779717 w 8140446"/>
              <a:gd name="connsiteY9" fmla="*/ 0 h 18288"/>
              <a:gd name="connsiteX10" fmla="*/ 6620896 w 8140446"/>
              <a:gd name="connsiteY10" fmla="*/ 0 h 18288"/>
              <a:gd name="connsiteX11" fmla="*/ 7136458 w 8140446"/>
              <a:gd name="connsiteY11" fmla="*/ 0 h 18288"/>
              <a:gd name="connsiteX12" fmla="*/ 8140446 w 8140446"/>
              <a:gd name="connsiteY12" fmla="*/ 0 h 18288"/>
              <a:gd name="connsiteX13" fmla="*/ 8140446 w 8140446"/>
              <a:gd name="connsiteY13" fmla="*/ 18288 h 18288"/>
              <a:gd name="connsiteX14" fmla="*/ 7543480 w 8140446"/>
              <a:gd name="connsiteY14" fmla="*/ 18288 h 18288"/>
              <a:gd name="connsiteX15" fmla="*/ 7109323 w 8140446"/>
              <a:gd name="connsiteY15" fmla="*/ 18288 h 18288"/>
              <a:gd name="connsiteX16" fmla="*/ 6430952 w 8140446"/>
              <a:gd name="connsiteY16" fmla="*/ 18288 h 18288"/>
              <a:gd name="connsiteX17" fmla="*/ 5915391 w 8140446"/>
              <a:gd name="connsiteY17" fmla="*/ 18288 h 18288"/>
              <a:gd name="connsiteX18" fmla="*/ 5237020 w 8140446"/>
              <a:gd name="connsiteY18" fmla="*/ 18288 h 18288"/>
              <a:gd name="connsiteX19" fmla="*/ 4558650 w 8140446"/>
              <a:gd name="connsiteY19" fmla="*/ 18288 h 18288"/>
              <a:gd name="connsiteX20" fmla="*/ 3880279 w 8140446"/>
              <a:gd name="connsiteY20" fmla="*/ 18288 h 18288"/>
              <a:gd name="connsiteX21" fmla="*/ 3201909 w 8140446"/>
              <a:gd name="connsiteY21" fmla="*/ 18288 h 18288"/>
              <a:gd name="connsiteX22" fmla="*/ 2604943 w 8140446"/>
              <a:gd name="connsiteY22" fmla="*/ 18288 h 18288"/>
              <a:gd name="connsiteX23" fmla="*/ 1845168 w 8140446"/>
              <a:gd name="connsiteY23" fmla="*/ 18288 h 18288"/>
              <a:gd name="connsiteX24" fmla="*/ 1166797 w 8140446"/>
              <a:gd name="connsiteY24" fmla="*/ 18288 h 18288"/>
              <a:gd name="connsiteX25" fmla="*/ 0 w 8140446"/>
              <a:gd name="connsiteY25" fmla="*/ 18288 h 18288"/>
              <a:gd name="connsiteX26" fmla="*/ 0 w 8140446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r>
              <a:rPr lang="en-US" sz="1900" dirty="0"/>
              <a:t>✔ Enhanced domain security, reduced attack surface.</a:t>
            </a:r>
          </a:p>
          <a:p>
            <a:pPr marL="0" indent="0">
              <a:buNone/>
            </a:pPr>
            <a:r>
              <a:rPr lang="en-US" sz="1900" dirty="0"/>
              <a:t>✔ Improved compliance readiness.</a:t>
            </a:r>
          </a:p>
          <a:p>
            <a:pPr marL="0" indent="0">
              <a:buNone/>
            </a:pPr>
            <a:r>
              <a:rPr lang="en-US" sz="1900" dirty="0"/>
              <a:t>✔ Reduced risk of privilege escalation, ransomware, and data breaches.</a:t>
            </a:r>
          </a:p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r>
              <a:rPr lang="en-US" sz="1900" dirty="0"/>
              <a:t>🔜 Next Steps:</a:t>
            </a:r>
          </a:p>
          <a:p>
            <a:pPr marL="0" indent="0">
              <a:buNone/>
            </a:pPr>
            <a:r>
              <a:rPr lang="en-US" sz="1900" dirty="0"/>
              <a:t>	- Secure leadership buy-in.</a:t>
            </a:r>
          </a:p>
          <a:p>
            <a:pPr marL="0" indent="0">
              <a:buNone/>
            </a:pPr>
            <a:r>
              <a:rPr lang="en-US" sz="1900" dirty="0"/>
              <a:t>	- Prioritize system upgrades and audits.</a:t>
            </a:r>
          </a:p>
          <a:p>
            <a:pPr marL="0" indent="0">
              <a:buNone/>
            </a:pPr>
            <a:r>
              <a:rPr lang="en-US" sz="1900" dirty="0"/>
              <a:t>	- Track remediation progress and review policy improvements.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7DD1E4-6519-413B-72B3-A4E112E71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F3E2D5-5AE0-0C6C-1DA6-C7C32880F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sz="4700" dirty="0"/>
              <a:t>Glossary</a:t>
            </a:r>
          </a:p>
        </p:txBody>
      </p:sp>
      <p:sp>
        <p:nvSpPr>
          <p:cNvPr id="36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onnsiteX0" fmla="*/ 0 w 8140446"/>
              <a:gd name="connsiteY0" fmla="*/ 0 h 18288"/>
              <a:gd name="connsiteX1" fmla="*/ 434157 w 8140446"/>
              <a:gd name="connsiteY1" fmla="*/ 0 h 18288"/>
              <a:gd name="connsiteX2" fmla="*/ 1193932 w 8140446"/>
              <a:gd name="connsiteY2" fmla="*/ 0 h 18288"/>
              <a:gd name="connsiteX3" fmla="*/ 1628089 w 8140446"/>
              <a:gd name="connsiteY3" fmla="*/ 0 h 18288"/>
              <a:gd name="connsiteX4" fmla="*/ 2225055 w 8140446"/>
              <a:gd name="connsiteY4" fmla="*/ 0 h 18288"/>
              <a:gd name="connsiteX5" fmla="*/ 3066235 w 8140446"/>
              <a:gd name="connsiteY5" fmla="*/ 0 h 18288"/>
              <a:gd name="connsiteX6" fmla="*/ 3744605 w 8140446"/>
              <a:gd name="connsiteY6" fmla="*/ 0 h 18288"/>
              <a:gd name="connsiteX7" fmla="*/ 4504380 w 8140446"/>
              <a:gd name="connsiteY7" fmla="*/ 0 h 18288"/>
              <a:gd name="connsiteX8" fmla="*/ 5101346 w 8140446"/>
              <a:gd name="connsiteY8" fmla="*/ 0 h 18288"/>
              <a:gd name="connsiteX9" fmla="*/ 5779717 w 8140446"/>
              <a:gd name="connsiteY9" fmla="*/ 0 h 18288"/>
              <a:gd name="connsiteX10" fmla="*/ 6620896 w 8140446"/>
              <a:gd name="connsiteY10" fmla="*/ 0 h 18288"/>
              <a:gd name="connsiteX11" fmla="*/ 7136458 w 8140446"/>
              <a:gd name="connsiteY11" fmla="*/ 0 h 18288"/>
              <a:gd name="connsiteX12" fmla="*/ 8140446 w 8140446"/>
              <a:gd name="connsiteY12" fmla="*/ 0 h 18288"/>
              <a:gd name="connsiteX13" fmla="*/ 8140446 w 8140446"/>
              <a:gd name="connsiteY13" fmla="*/ 18288 h 18288"/>
              <a:gd name="connsiteX14" fmla="*/ 7543480 w 8140446"/>
              <a:gd name="connsiteY14" fmla="*/ 18288 h 18288"/>
              <a:gd name="connsiteX15" fmla="*/ 7109323 w 8140446"/>
              <a:gd name="connsiteY15" fmla="*/ 18288 h 18288"/>
              <a:gd name="connsiteX16" fmla="*/ 6430952 w 8140446"/>
              <a:gd name="connsiteY16" fmla="*/ 18288 h 18288"/>
              <a:gd name="connsiteX17" fmla="*/ 5915391 w 8140446"/>
              <a:gd name="connsiteY17" fmla="*/ 18288 h 18288"/>
              <a:gd name="connsiteX18" fmla="*/ 5237020 w 8140446"/>
              <a:gd name="connsiteY18" fmla="*/ 18288 h 18288"/>
              <a:gd name="connsiteX19" fmla="*/ 4558650 w 8140446"/>
              <a:gd name="connsiteY19" fmla="*/ 18288 h 18288"/>
              <a:gd name="connsiteX20" fmla="*/ 3880279 w 8140446"/>
              <a:gd name="connsiteY20" fmla="*/ 18288 h 18288"/>
              <a:gd name="connsiteX21" fmla="*/ 3201909 w 8140446"/>
              <a:gd name="connsiteY21" fmla="*/ 18288 h 18288"/>
              <a:gd name="connsiteX22" fmla="*/ 2604943 w 8140446"/>
              <a:gd name="connsiteY22" fmla="*/ 18288 h 18288"/>
              <a:gd name="connsiteX23" fmla="*/ 1845168 w 8140446"/>
              <a:gd name="connsiteY23" fmla="*/ 18288 h 18288"/>
              <a:gd name="connsiteX24" fmla="*/ 1166797 w 8140446"/>
              <a:gd name="connsiteY24" fmla="*/ 18288 h 18288"/>
              <a:gd name="connsiteX25" fmla="*/ 0 w 8140446"/>
              <a:gd name="connsiteY25" fmla="*/ 18288 h 18288"/>
              <a:gd name="connsiteX26" fmla="*/ 0 w 8140446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B70B4A-B555-5D6F-68A9-B84FD2F558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pPr marL="742950" marR="0" lvl="1" indent="-285750">
              <a:lnSpc>
                <a:spcPct val="90000"/>
              </a:lnSpc>
              <a:buFont typeface="Arial" panose="020B0604020202020204" pitchFamily="34" charset="0"/>
              <a:buChar char="○"/>
            </a:pPr>
            <a:r>
              <a:rPr lang="en-US" sz="1600" b="1" u="none" strike="noStrike" dirty="0" err="1">
                <a:effectLst/>
                <a:latin typeface="+mj-lt"/>
                <a:ea typeface="Inter"/>
              </a:rPr>
              <a:t>gMSAs</a:t>
            </a:r>
            <a:r>
              <a:rPr lang="en-US" sz="1600" u="none" strike="noStrike" dirty="0">
                <a:effectLst/>
                <a:latin typeface="+mj-lt"/>
                <a:ea typeface="Inter"/>
              </a:rPr>
              <a:t> create strong, random passwords automatically — and update them regularly without human input.</a:t>
            </a:r>
            <a:endParaRPr lang="en-US" sz="1600" u="none" strike="noStrike" dirty="0">
              <a:effectLst/>
              <a:latin typeface="+mj-lt"/>
              <a:ea typeface="Arial" panose="020B0604020202020204" pitchFamily="34" charset="0"/>
            </a:endParaRPr>
          </a:p>
          <a:p>
            <a:pPr marL="742950" marR="0" lvl="1" indent="-285750">
              <a:lnSpc>
                <a:spcPct val="90000"/>
              </a:lnSpc>
              <a:buFont typeface="Arial" panose="020B0604020202020204" pitchFamily="34" charset="0"/>
              <a:buChar char="○"/>
            </a:pPr>
            <a:r>
              <a:rPr lang="en-US" sz="1600" b="1" u="none" strike="noStrike" dirty="0">
                <a:effectLst/>
                <a:latin typeface="+mj-lt"/>
                <a:ea typeface="Inter"/>
              </a:rPr>
              <a:t>LAPS</a:t>
            </a:r>
            <a:r>
              <a:rPr lang="en-US" sz="1600" u="none" strike="noStrike" dirty="0">
                <a:effectLst/>
                <a:latin typeface="+mj-lt"/>
                <a:ea typeface="Inter"/>
              </a:rPr>
              <a:t> fixes this by giving each computer its own unique admin password, storing those passwords securely in Active Directory, and allowing only authorized staff to view them.</a:t>
            </a:r>
          </a:p>
          <a:p>
            <a:pPr marL="742950" marR="0" lvl="1" indent="-285750">
              <a:lnSpc>
                <a:spcPct val="90000"/>
              </a:lnSpc>
              <a:buFont typeface="Arial" panose="020B0604020202020204" pitchFamily="34" charset="0"/>
              <a:buChar char="○"/>
            </a:pPr>
            <a:r>
              <a:rPr lang="en-US" sz="1600" b="1" dirty="0">
                <a:effectLst/>
                <a:latin typeface="+mj-lt"/>
                <a:ea typeface="Arial" panose="020B0604020202020204" pitchFamily="34" charset="0"/>
              </a:rPr>
              <a:t>Group Policy Objects</a:t>
            </a:r>
            <a:r>
              <a:rPr lang="en-US" sz="1600" dirty="0">
                <a:latin typeface="+mj-lt"/>
                <a:ea typeface="Arial" panose="020B0604020202020204" pitchFamily="34" charset="0"/>
              </a:rPr>
              <a:t>: </a:t>
            </a:r>
            <a:r>
              <a:rPr lang="en-US" sz="1600" dirty="0">
                <a:latin typeface="+mj-lt"/>
              </a:rPr>
              <a:t>Centralized management features in Windows that can accidentally store sensitive data like passwords in plaintext.</a:t>
            </a:r>
            <a:endParaRPr lang="en-US" sz="1600" dirty="0">
              <a:latin typeface="+mj-lt"/>
              <a:ea typeface="Arial" panose="020B0604020202020204" pitchFamily="34" charset="0"/>
            </a:endParaRPr>
          </a:p>
          <a:p>
            <a:pPr marL="742950" marR="0" lvl="1" indent="-285750">
              <a:lnSpc>
                <a:spcPct val="90000"/>
              </a:lnSpc>
              <a:buFont typeface="Arial" panose="020B0604020202020204" pitchFamily="34" charset="0"/>
              <a:buChar char="○"/>
            </a:pPr>
            <a:r>
              <a:rPr lang="en-US" sz="1600" b="1" dirty="0">
                <a:latin typeface="+mj-lt"/>
              </a:rPr>
              <a:t>CVE-2014-1812</a:t>
            </a:r>
            <a:r>
              <a:rPr lang="en-US" sz="1600" dirty="0">
                <a:latin typeface="+mj-lt"/>
              </a:rPr>
              <a:t> : A known vulnerability where attackers can exploit GPOs to retrieve encrypted but easily reversible passwords.</a:t>
            </a:r>
          </a:p>
          <a:p>
            <a:pPr marL="742950" marR="0" lvl="1" indent="-285750">
              <a:lnSpc>
                <a:spcPct val="90000"/>
              </a:lnSpc>
              <a:buFont typeface="Arial" panose="020B0604020202020204" pitchFamily="34" charset="0"/>
              <a:buChar char="○"/>
            </a:pPr>
            <a:r>
              <a:rPr lang="en-US" sz="1600" b="1" u="none" strike="noStrike" dirty="0">
                <a:effectLst/>
                <a:latin typeface="+mj-lt"/>
                <a:ea typeface="Arial" panose="020B0604020202020204" pitchFamily="34" charset="0"/>
              </a:rPr>
              <a:t>AES keys</a:t>
            </a:r>
            <a:r>
              <a:rPr lang="en-US" sz="1600" u="none" strike="noStrike" dirty="0">
                <a:effectLst/>
                <a:latin typeface="+mj-lt"/>
                <a:ea typeface="Arial" panose="020B0604020202020204" pitchFamily="34" charset="0"/>
              </a:rPr>
              <a:t>: </a:t>
            </a:r>
            <a:r>
              <a:rPr lang="en-US" sz="1600" dirty="0">
                <a:latin typeface="+mj-lt"/>
              </a:rPr>
              <a:t>Cryptographic keys used for secure encryption; if exposed, they can lead to data breaches.</a:t>
            </a:r>
            <a:endParaRPr lang="en-US" sz="1600" u="none" strike="noStrike" dirty="0">
              <a:effectLst/>
              <a:latin typeface="+mj-lt"/>
              <a:ea typeface="Arial" panose="020B0604020202020204" pitchFamily="34" charset="0"/>
            </a:endParaRPr>
          </a:p>
          <a:p>
            <a:pPr marL="742950" marR="0" lvl="1" indent="-285750">
              <a:lnSpc>
                <a:spcPct val="90000"/>
              </a:lnSpc>
              <a:buFont typeface="Arial" panose="020B0604020202020204" pitchFamily="34" charset="0"/>
              <a:buChar char="○"/>
            </a:pPr>
            <a:r>
              <a:rPr lang="en-US" sz="1600" b="1" dirty="0">
                <a:effectLst/>
                <a:latin typeface="+mj-lt"/>
                <a:ea typeface="Arial" panose="020B0604020202020204" pitchFamily="34" charset="0"/>
              </a:rPr>
              <a:t>CIS Controls</a:t>
            </a:r>
            <a:r>
              <a:rPr lang="en-US" sz="1600" dirty="0">
                <a:latin typeface="+mj-lt"/>
                <a:ea typeface="Arial" panose="020B0604020202020204" pitchFamily="34" charset="0"/>
              </a:rPr>
              <a:t>: </a:t>
            </a:r>
            <a:r>
              <a:rPr lang="en-US" sz="1600" dirty="0">
                <a:latin typeface="+mj-lt"/>
              </a:rPr>
              <a:t>A prioritized set of cybersecurity best practices aimed at improving organizational security posture.</a:t>
            </a:r>
            <a:endParaRPr lang="en-US" sz="1600" dirty="0">
              <a:latin typeface="+mj-lt"/>
              <a:ea typeface="Arial" panose="020B0604020202020204" pitchFamily="34" charset="0"/>
            </a:endParaRPr>
          </a:p>
          <a:p>
            <a:pPr marL="742950" marR="0" lvl="1" indent="-285750">
              <a:lnSpc>
                <a:spcPct val="90000"/>
              </a:lnSpc>
              <a:buFont typeface="Arial" panose="020B0604020202020204" pitchFamily="34" charset="0"/>
              <a:buChar char="○"/>
            </a:pPr>
            <a:r>
              <a:rPr lang="en-US" sz="1600" b="1" dirty="0">
                <a:latin typeface="+mj-lt"/>
              </a:rPr>
              <a:t>HIPAA</a:t>
            </a:r>
            <a:r>
              <a:rPr lang="en-US" sz="1600" dirty="0">
                <a:latin typeface="+mj-lt"/>
              </a:rPr>
              <a:t>:A U.S. regulation that mandates the protection of health data, which can be violated if system vulnerabilities expose sensitive information.</a:t>
            </a:r>
            <a:endParaRPr lang="en-US" sz="1600" u="none" strike="noStrike" dirty="0">
              <a:effectLst/>
              <a:latin typeface="+mj-lt"/>
              <a:ea typeface="Arial" panose="020B0604020202020204" pitchFamily="34" charset="0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1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4823955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7" name="Rectangle 56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1381"/>
            <a:ext cx="7884414" cy="406654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5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Q&amp;A</a:t>
            </a:r>
          </a:p>
        </p:txBody>
      </p:sp>
      <p:sp>
        <p:nvSpPr>
          <p:cNvPr id="59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4718595"/>
            <a:ext cx="4057650" cy="18288"/>
          </a:xfrm>
          <a:custGeom>
            <a:avLst/>
            <a:gdLst>
              <a:gd name="connsiteX0" fmla="*/ 0 w 4057650"/>
              <a:gd name="connsiteY0" fmla="*/ 0 h 18288"/>
              <a:gd name="connsiteX1" fmla="*/ 757428 w 4057650"/>
              <a:gd name="connsiteY1" fmla="*/ 0 h 18288"/>
              <a:gd name="connsiteX2" fmla="*/ 1474279 w 4057650"/>
              <a:gd name="connsiteY2" fmla="*/ 0 h 18288"/>
              <a:gd name="connsiteX3" fmla="*/ 2191131 w 4057650"/>
              <a:gd name="connsiteY3" fmla="*/ 0 h 18288"/>
              <a:gd name="connsiteX4" fmla="*/ 2745676 w 4057650"/>
              <a:gd name="connsiteY4" fmla="*/ 0 h 18288"/>
              <a:gd name="connsiteX5" fmla="*/ 3340798 w 4057650"/>
              <a:gd name="connsiteY5" fmla="*/ 0 h 18288"/>
              <a:gd name="connsiteX6" fmla="*/ 4057650 w 4057650"/>
              <a:gd name="connsiteY6" fmla="*/ 0 h 18288"/>
              <a:gd name="connsiteX7" fmla="*/ 4057650 w 4057650"/>
              <a:gd name="connsiteY7" fmla="*/ 18288 h 18288"/>
              <a:gd name="connsiteX8" fmla="*/ 3381375 w 4057650"/>
              <a:gd name="connsiteY8" fmla="*/ 18288 h 18288"/>
              <a:gd name="connsiteX9" fmla="*/ 2826830 w 4057650"/>
              <a:gd name="connsiteY9" fmla="*/ 18288 h 18288"/>
              <a:gd name="connsiteX10" fmla="*/ 2272284 w 4057650"/>
              <a:gd name="connsiteY10" fmla="*/ 18288 h 18288"/>
              <a:gd name="connsiteX11" fmla="*/ 1555432 w 4057650"/>
              <a:gd name="connsiteY11" fmla="*/ 18288 h 18288"/>
              <a:gd name="connsiteX12" fmla="*/ 960310 w 4057650"/>
              <a:gd name="connsiteY12" fmla="*/ 18288 h 18288"/>
              <a:gd name="connsiteX13" fmla="*/ 0 w 4057650"/>
              <a:gd name="connsiteY13" fmla="*/ 18288 h 18288"/>
              <a:gd name="connsiteX14" fmla="*/ 0 w 4057650"/>
              <a:gd name="connsiteY1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057650" h="18288" fill="none" extrusionOk="0">
                <a:moveTo>
                  <a:pt x="0" y="0"/>
                </a:moveTo>
                <a:cubicBezTo>
                  <a:pt x="371182" y="3227"/>
                  <a:pt x="494372" y="9222"/>
                  <a:pt x="757428" y="0"/>
                </a:cubicBezTo>
                <a:cubicBezTo>
                  <a:pt x="1020484" y="-9222"/>
                  <a:pt x="1116719" y="-4357"/>
                  <a:pt x="1474279" y="0"/>
                </a:cubicBezTo>
                <a:cubicBezTo>
                  <a:pt x="1831839" y="4357"/>
                  <a:pt x="1920973" y="-11809"/>
                  <a:pt x="2191131" y="0"/>
                </a:cubicBezTo>
                <a:cubicBezTo>
                  <a:pt x="2461289" y="11809"/>
                  <a:pt x="2589480" y="-22604"/>
                  <a:pt x="2745676" y="0"/>
                </a:cubicBezTo>
                <a:cubicBezTo>
                  <a:pt x="2901872" y="22604"/>
                  <a:pt x="3136452" y="-12306"/>
                  <a:pt x="3340798" y="0"/>
                </a:cubicBezTo>
                <a:cubicBezTo>
                  <a:pt x="3545144" y="12306"/>
                  <a:pt x="3766934" y="-21556"/>
                  <a:pt x="4057650" y="0"/>
                </a:cubicBezTo>
                <a:cubicBezTo>
                  <a:pt x="4057150" y="8855"/>
                  <a:pt x="4057759" y="14521"/>
                  <a:pt x="4057650" y="18288"/>
                </a:cubicBezTo>
                <a:cubicBezTo>
                  <a:pt x="3743404" y="40125"/>
                  <a:pt x="3625516" y="-14923"/>
                  <a:pt x="3381375" y="18288"/>
                </a:cubicBezTo>
                <a:cubicBezTo>
                  <a:pt x="3137235" y="51499"/>
                  <a:pt x="2946571" y="1"/>
                  <a:pt x="2826830" y="18288"/>
                </a:cubicBezTo>
                <a:cubicBezTo>
                  <a:pt x="2707090" y="36575"/>
                  <a:pt x="2402756" y="1432"/>
                  <a:pt x="2272284" y="18288"/>
                </a:cubicBezTo>
                <a:cubicBezTo>
                  <a:pt x="2141812" y="35144"/>
                  <a:pt x="1895935" y="18199"/>
                  <a:pt x="1555432" y="18288"/>
                </a:cubicBezTo>
                <a:cubicBezTo>
                  <a:pt x="1214929" y="18377"/>
                  <a:pt x="1103072" y="14503"/>
                  <a:pt x="960310" y="18288"/>
                </a:cubicBezTo>
                <a:cubicBezTo>
                  <a:pt x="817548" y="22073"/>
                  <a:pt x="402272" y="-29359"/>
                  <a:pt x="0" y="18288"/>
                </a:cubicBezTo>
                <a:cubicBezTo>
                  <a:pt x="683" y="12014"/>
                  <a:pt x="724" y="5908"/>
                  <a:pt x="0" y="0"/>
                </a:cubicBezTo>
                <a:close/>
              </a:path>
              <a:path w="4057650" h="18288" stroke="0" extrusionOk="0">
                <a:moveTo>
                  <a:pt x="0" y="0"/>
                </a:moveTo>
                <a:cubicBezTo>
                  <a:pt x="248348" y="13145"/>
                  <a:pt x="486117" y="25042"/>
                  <a:pt x="635698" y="0"/>
                </a:cubicBezTo>
                <a:cubicBezTo>
                  <a:pt x="785279" y="-25042"/>
                  <a:pt x="917762" y="-5537"/>
                  <a:pt x="1190244" y="0"/>
                </a:cubicBezTo>
                <a:cubicBezTo>
                  <a:pt x="1462726" y="5537"/>
                  <a:pt x="1667120" y="-21232"/>
                  <a:pt x="1947672" y="0"/>
                </a:cubicBezTo>
                <a:cubicBezTo>
                  <a:pt x="2228224" y="21232"/>
                  <a:pt x="2280631" y="-21698"/>
                  <a:pt x="2583370" y="0"/>
                </a:cubicBezTo>
                <a:cubicBezTo>
                  <a:pt x="2886109" y="21698"/>
                  <a:pt x="3022941" y="19647"/>
                  <a:pt x="3219069" y="0"/>
                </a:cubicBezTo>
                <a:cubicBezTo>
                  <a:pt x="3415197" y="-19647"/>
                  <a:pt x="3747500" y="26991"/>
                  <a:pt x="4057650" y="0"/>
                </a:cubicBezTo>
                <a:cubicBezTo>
                  <a:pt x="4056752" y="7180"/>
                  <a:pt x="4057819" y="13790"/>
                  <a:pt x="4057650" y="18288"/>
                </a:cubicBezTo>
                <a:cubicBezTo>
                  <a:pt x="3865148" y="-3313"/>
                  <a:pt x="3702543" y="49468"/>
                  <a:pt x="3381375" y="18288"/>
                </a:cubicBezTo>
                <a:cubicBezTo>
                  <a:pt x="3060208" y="-12892"/>
                  <a:pt x="2956571" y="-8678"/>
                  <a:pt x="2826830" y="18288"/>
                </a:cubicBezTo>
                <a:cubicBezTo>
                  <a:pt x="2697089" y="45254"/>
                  <a:pt x="2411031" y="43154"/>
                  <a:pt x="2150555" y="18288"/>
                </a:cubicBezTo>
                <a:cubicBezTo>
                  <a:pt x="1890080" y="-6578"/>
                  <a:pt x="1741827" y="-615"/>
                  <a:pt x="1474280" y="18288"/>
                </a:cubicBezTo>
                <a:cubicBezTo>
                  <a:pt x="1206734" y="37191"/>
                  <a:pt x="998203" y="33335"/>
                  <a:pt x="838581" y="18288"/>
                </a:cubicBezTo>
                <a:cubicBezTo>
                  <a:pt x="678959" y="3241"/>
                  <a:pt x="187101" y="-13212"/>
                  <a:pt x="0" y="18288"/>
                </a:cubicBezTo>
                <a:cubicBezTo>
                  <a:pt x="571" y="10093"/>
                  <a:pt x="-125" y="840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586</Words>
  <Application>Microsoft Office PowerPoint</Application>
  <PresentationFormat>On-screen Show (4:3)</PresentationFormat>
  <Paragraphs>72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OpenPharma Cybersecurity Remediation Plan</vt:lpstr>
      <vt:lpstr>Summary of Audit Findings</vt:lpstr>
      <vt:lpstr>Top 8 Prioritized Vulnerabilities</vt:lpstr>
      <vt:lpstr>Business Impact – Outdated Operating Systems</vt:lpstr>
      <vt:lpstr>Strategic Action – GPP Password Removal</vt:lpstr>
      <vt:lpstr>Strategic Benefits &amp; Next Steps</vt:lpstr>
      <vt:lpstr>Glossary</vt:lpstr>
      <vt:lpstr>Q&amp;A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Meera Pillai</cp:lastModifiedBy>
  <cp:revision>42</cp:revision>
  <dcterms:created xsi:type="dcterms:W3CDTF">2013-01-27T09:14:16Z</dcterms:created>
  <dcterms:modified xsi:type="dcterms:W3CDTF">2025-04-17T21:22:31Z</dcterms:modified>
  <cp:category/>
</cp:coreProperties>
</file>